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48" r:id="rId4"/>
  </p:sldMasterIdLst>
  <p:notesMasterIdLst>
    <p:notesMasterId r:id="rId24"/>
  </p:notesMasterIdLst>
  <p:handoutMasterIdLst>
    <p:handoutMasterId r:id="rId25"/>
  </p:handoutMasterIdLst>
  <p:sldIdLst>
    <p:sldId id="256" r:id="rId5"/>
    <p:sldId id="257" r:id="rId6"/>
    <p:sldId id="269" r:id="rId7"/>
    <p:sldId id="270" r:id="rId8"/>
    <p:sldId id="271" r:id="rId9"/>
    <p:sldId id="272" r:id="rId10"/>
    <p:sldId id="273" r:id="rId11"/>
    <p:sldId id="274" r:id="rId12"/>
    <p:sldId id="275" r:id="rId13"/>
    <p:sldId id="276" r:id="rId14"/>
    <p:sldId id="277" r:id="rId15"/>
    <p:sldId id="278" r:id="rId16"/>
    <p:sldId id="279" r:id="rId17"/>
    <p:sldId id="280" r:id="rId18"/>
    <p:sldId id="282" r:id="rId19"/>
    <p:sldId id="283" r:id="rId20"/>
    <p:sldId id="284" r:id="rId21"/>
    <p:sldId id="285" r:id="rId22"/>
    <p:sldId id="268" r:id="rId23"/>
  </p:sldIdLst>
  <p:sldSz cx="9144000" cy="6858000" type="screen4x3"/>
  <p:notesSz cx="7559675" cy="1069181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AB2E2"/>
    <a:srgbClr val="2A66AC"/>
    <a:srgbClr val="75A4DD"/>
    <a:srgbClr val="2E6CB8"/>
    <a:srgbClr val="2A65AC"/>
    <a:srgbClr val="255997"/>
    <a:srgbClr val="3379CD"/>
    <a:srgbClr val="558ED5"/>
    <a:srgbClr val="78A6DE"/>
    <a:srgbClr val="9DBE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7" d="100"/>
          <a:sy n="97" d="100"/>
        </p:scale>
        <p:origin x="2004" y="72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handoutMaster" Target="handoutMasters/handout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F607C9A-EDB5-4C0A-BCFE-81AAF6133E6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4F00B0C-2831-4624-A5D3-43F42D30BA7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5D2B5EB-424D-4C39-A8AB-65F1D7895EF3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334ABA9-0C2F-480A-B554-A457296C39B5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6F3BA01-5457-4975-8BF5-D0EAD49D53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199376-55CE-4213-A97D-9D70929AC50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3002274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281488" y="0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88BC1CF-45D5-4DEE-AAB8-8C5341844FC9}" type="datetimeFigureOut">
              <a:rPr lang="en-US" smtClean="0"/>
              <a:pPr/>
              <a:t>5/11/2026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4775" y="1336675"/>
            <a:ext cx="4810125" cy="3608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55650" y="5145088"/>
            <a:ext cx="6048375" cy="42100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Name of the faculty [Group: G00] [Sem:2nd]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281488" y="10155238"/>
            <a:ext cx="3276600" cy="53657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A7523A-12D4-4E0F-9409-B3F845B483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58122221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A7523A-12D4-4E0F-9409-B3F845B48333}" type="slidenum">
              <a:rPr lang="en-US" smtClean="0"/>
              <a:pPr/>
              <a:t>1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99BB95-9755-4BC6-8051-C2B8CF54F2A1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r>
              <a:rPr lang="en-US"/>
              <a:t>Name of the faculty [Group: G00] [Sem:2nd]</a:t>
            </a:r>
          </a:p>
        </p:txBody>
      </p:sp>
    </p:spTree>
    <p:extLst>
      <p:ext uri="{BB962C8B-B14F-4D97-AF65-F5344CB8AC3E}">
        <p14:creationId xmlns:p14="http://schemas.microsoft.com/office/powerpoint/2010/main" val="42548747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subTitle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 dirty="0">
              <a:latin typeface="Arial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subTitle"/>
          </p:nvPr>
        </p:nvSpPr>
        <p:spPr>
          <a:xfrm>
            <a:off x="0" y="0"/>
            <a:ext cx="5486040" cy="423828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pPr algn="ctr"/>
            <a:endParaRPr lang="en-GB" sz="3200" b="0" strike="noStrike" spc="-1">
              <a:latin typeface="Arial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397728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4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3" name="PlaceHolder 3"/>
          <p:cNvSpPr>
            <a:spLocks noGrp="1"/>
          </p:cNvSpPr>
          <p:nvPr>
            <p:ph type="body"/>
          </p:nvPr>
        </p:nvSpPr>
        <p:spPr>
          <a:xfrm>
            <a:off x="457200" y="3682080"/>
            <a:ext cx="822924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4674240" y="160452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7" name="PlaceHolder 4"/>
          <p:cNvSpPr>
            <a:spLocks noGrp="1"/>
          </p:cNvSpPr>
          <p:nvPr>
            <p:ph type="body"/>
          </p:nvPr>
        </p:nvSpPr>
        <p:spPr>
          <a:xfrm>
            <a:off x="45720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8" name="PlaceHolder 5"/>
          <p:cNvSpPr>
            <a:spLocks noGrp="1"/>
          </p:cNvSpPr>
          <p:nvPr>
            <p:ph type="body"/>
          </p:nvPr>
        </p:nvSpPr>
        <p:spPr>
          <a:xfrm>
            <a:off x="4674240" y="3682080"/>
            <a:ext cx="40158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0" y="0"/>
            <a:ext cx="5486040" cy="914040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/>
          <a:p>
            <a:endParaRPr lang="en-US" sz="3000" b="0" strike="noStrike" spc="-1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45720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323964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22080" y="160452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3" name="PlaceHolder 5"/>
          <p:cNvSpPr>
            <a:spLocks noGrp="1"/>
          </p:cNvSpPr>
          <p:nvPr>
            <p:ph type="body"/>
          </p:nvPr>
        </p:nvSpPr>
        <p:spPr>
          <a:xfrm>
            <a:off x="45720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4" name="PlaceHolder 6"/>
          <p:cNvSpPr>
            <a:spLocks noGrp="1"/>
          </p:cNvSpPr>
          <p:nvPr>
            <p:ph type="body"/>
          </p:nvPr>
        </p:nvSpPr>
        <p:spPr>
          <a:xfrm>
            <a:off x="323964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5" name="PlaceHolder 7"/>
          <p:cNvSpPr>
            <a:spLocks noGrp="1"/>
          </p:cNvSpPr>
          <p:nvPr>
            <p:ph type="body"/>
          </p:nvPr>
        </p:nvSpPr>
        <p:spPr>
          <a:xfrm>
            <a:off x="6022080" y="3682080"/>
            <a:ext cx="2649600" cy="1896840"/>
          </a:xfrm>
          <a:prstGeom prst="rect">
            <a:avLst/>
          </a:prstGeom>
        </p:spPr>
        <p:txBody>
          <a:bodyPr lIns="0" tIns="0" rIns="0" bIns="0">
            <a:normAutofit/>
          </a:bodyPr>
          <a:lstStyle/>
          <a:p>
            <a:endParaRPr lang="en-US" sz="3200" b="0" strike="noStrike" spc="-1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2.jpe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CustomShape 1"/>
          <p:cNvSpPr/>
          <p:nvPr/>
        </p:nvSpPr>
        <p:spPr>
          <a:xfrm>
            <a:off x="0" y="0"/>
            <a:ext cx="9143640" cy="837720"/>
          </a:xfrm>
          <a:prstGeom prst="rect">
            <a:avLst/>
          </a:prstGeom>
          <a:solidFill>
            <a:srgbClr val="FF3300"/>
          </a:solidFill>
          <a:ln w="936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sp>
        <p:nvSpPr>
          <p:cNvPr id="21" name="CustomShape 2"/>
          <p:cNvSpPr/>
          <p:nvPr/>
        </p:nvSpPr>
        <p:spPr>
          <a:xfrm flipV="1">
            <a:off x="0" y="6704640"/>
            <a:ext cx="9143640" cy="197640"/>
          </a:xfrm>
          <a:prstGeom prst="rect">
            <a:avLst/>
          </a:prstGeom>
          <a:solidFill>
            <a:srgbClr val="FF0000"/>
          </a:solidFill>
          <a:ln w="9360">
            <a:noFill/>
          </a:ln>
          <a:scene3d>
            <a:camera prst="orthographicFront"/>
            <a:lightRig rig="threePt" dir="t"/>
          </a:scene3d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</p:sp>
      <p:pic>
        <p:nvPicPr>
          <p:cNvPr id="2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pic>
        <p:nvPicPr>
          <p:cNvPr id="3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4" name="Group 3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5" name="CustomShape 4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6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7" name="CustomShape 5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8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pic>
        <p:nvPicPr>
          <p:cNvPr id="9" name="Picture 10" descr="LOGO.gif"/>
          <p:cNvPicPr/>
          <p:nvPr/>
        </p:nvPicPr>
        <p:blipFill>
          <a:blip r:embed="rId14"/>
          <a:srcRect b="10718"/>
          <a:stretch/>
        </p:blipFill>
        <p:spPr>
          <a:xfrm>
            <a:off x="6553080" y="228600"/>
            <a:ext cx="2057040" cy="634680"/>
          </a:xfrm>
          <a:prstGeom prst="rect">
            <a:avLst/>
          </a:prstGeom>
          <a:ln w="9360">
            <a:noFill/>
          </a:ln>
        </p:spPr>
      </p:pic>
      <p:grpSp>
        <p:nvGrpSpPr>
          <p:cNvPr id="10" name="Group 6"/>
          <p:cNvGrpSpPr/>
          <p:nvPr/>
        </p:nvGrpSpPr>
        <p:grpSpPr>
          <a:xfrm>
            <a:off x="6146640" y="0"/>
            <a:ext cx="2997000" cy="875880"/>
            <a:chOff x="6146640" y="0"/>
            <a:chExt cx="2997000" cy="875880"/>
          </a:xfrm>
        </p:grpSpPr>
        <p:sp>
          <p:nvSpPr>
            <p:cNvPr id="11" name="CustomShape 7"/>
            <p:cNvSpPr/>
            <p:nvPr/>
          </p:nvSpPr>
          <p:spPr>
            <a:xfrm>
              <a:off x="6146640" y="0"/>
              <a:ext cx="2997000" cy="837720"/>
            </a:xfrm>
            <a:prstGeom prst="rect">
              <a:avLst/>
            </a:prstGeom>
            <a:solidFill>
              <a:srgbClr val="FF3300"/>
            </a:solidFill>
            <a:ln w="9360"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/>
          </p:style>
        </p:sp>
        <p:pic>
          <p:nvPicPr>
            <p:cNvPr id="12" name="Picture 9" descr="LOGO.gif"/>
            <p:cNvPicPr/>
            <p:nvPr/>
          </p:nvPicPr>
          <p:blipFill>
            <a:blip r:embed="rId14"/>
            <a:srcRect b="10718"/>
            <a:stretch/>
          </p:blipFill>
          <p:spPr>
            <a:xfrm>
              <a:off x="6553080" y="228600"/>
              <a:ext cx="2057040" cy="634680"/>
            </a:xfrm>
            <a:prstGeom prst="rect">
              <a:avLst/>
            </a:prstGeom>
            <a:ln w="9360">
              <a:noFill/>
            </a:ln>
          </p:spPr>
        </p:pic>
        <p:sp>
          <p:nvSpPr>
            <p:cNvPr id="13" name="CustomShape 8"/>
            <p:cNvSpPr/>
            <p:nvPr/>
          </p:nvSpPr>
          <p:spPr>
            <a:xfrm>
              <a:off x="6527880" y="190440"/>
              <a:ext cx="2076120" cy="68544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/>
          </p:style>
        </p:sp>
      </p:grpSp>
      <p:pic>
        <p:nvPicPr>
          <p:cNvPr id="14" name="Picture 15" descr="logo.jpg"/>
          <p:cNvPicPr/>
          <p:nvPr/>
        </p:nvPicPr>
        <p:blipFill>
          <a:blip r:embed="rId15"/>
          <a:stretch/>
        </p:blipFill>
        <p:spPr>
          <a:xfrm>
            <a:off x="6553080" y="228600"/>
            <a:ext cx="1920600" cy="609120"/>
          </a:xfrm>
          <a:prstGeom prst="rect">
            <a:avLst/>
          </a:prstGeom>
          <a:ln w="9360">
            <a:noFill/>
          </a:ln>
        </p:spPr>
      </p:pic>
      <p:sp>
        <p:nvSpPr>
          <p:cNvPr id="15" name="PlaceHolder 9"/>
          <p:cNvSpPr>
            <a:spLocks noGrp="1"/>
          </p:cNvSpPr>
          <p:nvPr>
            <p:ph type="title"/>
          </p:nvPr>
        </p:nvSpPr>
        <p:spPr>
          <a:xfrm>
            <a:off x="0" y="0"/>
            <a:ext cx="6476760" cy="83772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title style</a:t>
            </a:r>
            <a:endParaRPr lang="en-US" sz="30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0"/>
          <p:cNvSpPr>
            <a:spLocks noGrp="1"/>
          </p:cNvSpPr>
          <p:nvPr>
            <p:ph type="body"/>
          </p:nvPr>
        </p:nvSpPr>
        <p:spPr>
          <a:xfrm>
            <a:off x="457200" y="1371600"/>
            <a:ext cx="8229240" cy="4525560"/>
          </a:xfrm>
          <a:prstGeom prst="rect">
            <a:avLst/>
          </a:prstGeom>
        </p:spPr>
        <p:txBody>
          <a:bodyPr>
            <a:noAutofit/>
          </a:bodyPr>
          <a:lstStyle/>
          <a:p>
            <a:pPr marL="343080" indent="-342720">
              <a:lnSpc>
                <a:spcPct val="100000"/>
              </a:lnSpc>
              <a:spcBef>
                <a:spcPts val="641"/>
              </a:spcBef>
              <a:buClr>
                <a:srgbClr val="000000"/>
              </a:buClr>
              <a:buFont typeface="Arial"/>
              <a:buChar char="•"/>
            </a:pPr>
            <a:r>
              <a:rPr lang="en-US" sz="32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Click to edit Master text styles</a:t>
            </a:r>
            <a:endParaRPr lang="en-US" sz="3200" b="0" strike="noStrike" spc="-1" dirty="0">
              <a:solidFill>
                <a:srgbClr val="000000"/>
              </a:solidFill>
              <a:latin typeface="Calibri"/>
            </a:endParaRPr>
          </a:p>
          <a:p>
            <a:pPr marL="743040" lvl="1" indent="-285480">
              <a:lnSpc>
                <a:spcPct val="100000"/>
              </a:lnSpc>
              <a:spcBef>
                <a:spcPts val="561"/>
              </a:spcBef>
              <a:buClr>
                <a:srgbClr val="000000"/>
              </a:buClr>
              <a:buFont typeface="Arial"/>
              <a:buChar char="–"/>
            </a:pPr>
            <a:r>
              <a:rPr lang="en-US" sz="28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Second level</a:t>
            </a:r>
            <a:endParaRPr lang="en-US" sz="2800" b="0" strike="noStrike" spc="-1" dirty="0">
              <a:solidFill>
                <a:srgbClr val="000000"/>
              </a:solidFill>
              <a:latin typeface="Calibri"/>
            </a:endParaRPr>
          </a:p>
          <a:p>
            <a:pPr marL="1143000" lvl="2" indent="-228240">
              <a:lnSpc>
                <a:spcPct val="100000"/>
              </a:lnSpc>
              <a:spcBef>
                <a:spcPts val="479"/>
              </a:spcBef>
              <a:buClr>
                <a:srgbClr val="000000"/>
              </a:buClr>
              <a:buFont typeface="Arial"/>
              <a:buChar char="•"/>
            </a:pPr>
            <a:r>
              <a:rPr lang="en-US" sz="24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Third level</a:t>
            </a:r>
            <a:endParaRPr lang="en-US" sz="2400" b="0" strike="noStrike" spc="-1" dirty="0">
              <a:solidFill>
                <a:srgbClr val="000000"/>
              </a:solidFill>
              <a:latin typeface="Calibri"/>
            </a:endParaRPr>
          </a:p>
          <a:p>
            <a:pPr marL="1600200" lvl="3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–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Fourth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 marL="2057400" lvl="4" indent="-228240">
              <a:lnSpc>
                <a:spcPct val="100000"/>
              </a:lnSpc>
              <a:spcBef>
                <a:spcPts val="400"/>
              </a:spcBef>
              <a:buClr>
                <a:srgbClr val="000000"/>
              </a:buClr>
              <a:buFont typeface="Arial"/>
              <a:buChar char="»"/>
            </a:pPr>
            <a:r>
              <a:rPr lang="en-US" sz="2000" b="0" strike="noStrike" spc="-1" dirty="0">
                <a:solidFill>
                  <a:srgbClr val="000000"/>
                </a:solidFill>
                <a:latin typeface="Calibri"/>
                <a:ea typeface="MS PGothic"/>
              </a:rPr>
              <a:t>Fifth level</a:t>
            </a: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11"/>
          <p:cNvSpPr>
            <a:spLocks noGrp="1"/>
          </p:cNvSpPr>
          <p:nvPr>
            <p:ph type="dt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>
              <a:lnSpc>
                <a:spcPct val="100000"/>
              </a:lnSpc>
            </a:pPr>
            <a:endParaRPr lang="en-GB" sz="1200" b="0" strike="noStrike" spc="-1">
              <a:latin typeface="Times New Roman"/>
            </a:endParaRPr>
          </a:p>
        </p:txBody>
      </p:sp>
      <p:sp>
        <p:nvSpPr>
          <p:cNvPr id="18" name="PlaceHolder 12"/>
          <p:cNvSpPr>
            <a:spLocks noGrp="1"/>
          </p:cNvSpPr>
          <p:nvPr>
            <p:ph type="ftr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r>
              <a:rPr lang="en-GB" sz="2400" b="0" strike="noStrike" spc="-1">
                <a:latin typeface="Times New Roman"/>
              </a:rPr>
              <a:t>Name</a:t>
            </a:r>
          </a:p>
        </p:txBody>
      </p:sp>
      <p:sp>
        <p:nvSpPr>
          <p:cNvPr id="19" name="PlaceHolder 13"/>
          <p:cNvSpPr>
            <a:spLocks noGrp="1"/>
          </p:cNvSpPr>
          <p:nvPr>
            <p:ph type="sldNum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1CFDC92E-FF5D-4613-8499-B15BC16E50D9}" type="slidenum">
              <a:rPr lang="en-US" sz="1200" b="0" strike="noStrike" spc="-1">
                <a:solidFill>
                  <a:srgbClr val="898989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‹#›</a:t>
            </a:fld>
            <a:endParaRPr lang="en-GB" sz="1200" b="0" strike="noStrike" spc="-1">
              <a:latin typeface="Times New Roman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Shape 1"/>
          <p:cNvSpPr txBox="1"/>
          <p:nvPr/>
        </p:nvSpPr>
        <p:spPr>
          <a:xfrm>
            <a:off x="0" y="840631"/>
            <a:ext cx="9144000" cy="5377289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b="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Project Presentation of Industry Oriented Hands on Experience (22CS422)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000" spc="-1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On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3600" dirty="0"/>
              <a:t>DIGITAL FORENSICS IN CYBERSECURITY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IN" sz="16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Submitted By:</a:t>
            </a:r>
            <a:endParaRPr lang="en-US" sz="2000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fi-FI" sz="1200" b="1" dirty="0"/>
              <a:t>Anushka</a:t>
            </a:r>
            <a:r>
              <a:rPr lang="fi-FI" sz="1200" dirty="0"/>
              <a:t>(2210991322) </a:t>
            </a:r>
            <a:r>
              <a:rPr lang="fi-FI" sz="1200" b="1" dirty="0"/>
              <a:t>Dr. Shikha Tuteja </a:t>
            </a:r>
            <a:endParaRPr lang="fi-FI" sz="1200" dirty="0"/>
          </a:p>
          <a:p>
            <a:r>
              <a:rPr lang="it-IT" sz="1200" b="1" dirty="0"/>
              <a:t>			       Drishti Bhardwaj </a:t>
            </a:r>
            <a:r>
              <a:rPr lang="it-IT" sz="1200" dirty="0"/>
              <a:t>(2210990306) Associate Professor </a:t>
            </a:r>
          </a:p>
          <a:p>
            <a:r>
              <a:rPr lang="en-IN" sz="1200" b="1" dirty="0"/>
              <a:t>			       Vriti Jaitley </a:t>
            </a:r>
            <a:r>
              <a:rPr lang="en-IN" sz="1200" dirty="0"/>
              <a:t>(2210994862) </a:t>
            </a:r>
          </a:p>
          <a:p>
            <a:r>
              <a:rPr lang="en-IN" sz="1200" b="1" dirty="0"/>
              <a:t>			       Geetanshu </a:t>
            </a:r>
            <a:r>
              <a:rPr lang="en-IN" sz="1200" b="1" dirty="0" err="1"/>
              <a:t>Mantro</a:t>
            </a:r>
            <a:r>
              <a:rPr lang="en-IN" sz="1200" b="1" dirty="0"/>
              <a:t> </a:t>
            </a:r>
            <a:r>
              <a:rPr lang="en-IN" sz="1200" dirty="0"/>
              <a:t>(2210990324) </a:t>
            </a:r>
            <a:endParaRPr lang="en-US" sz="1200" b="0" strike="noStrike" spc="-1" dirty="0">
              <a:solidFill>
                <a:srgbClr val="000000"/>
              </a:solidFill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1600" spc="-1" dirty="0">
                <a:solidFill>
                  <a:srgbClr val="000000"/>
                </a:solidFill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Supervised By:</a:t>
            </a:r>
            <a:endParaRPr lang="en-IN" dirty="0"/>
          </a:p>
          <a:p>
            <a:r>
              <a:rPr lang="en-IN" dirty="0"/>
              <a:t> 				</a:t>
            </a:r>
            <a:r>
              <a:rPr lang="en-IN" sz="1400" b="1" dirty="0"/>
              <a:t>Dr. Shikha Tuteja </a:t>
            </a:r>
            <a:endParaRPr lang="en-IN" sz="1400" dirty="0"/>
          </a:p>
          <a:p>
            <a:r>
              <a:rPr lang="it-IT" sz="1400" dirty="0"/>
              <a:t>				Associate Professor </a:t>
            </a:r>
            <a:endParaRPr lang="en-US" sz="14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endParaRPr lang="en-US" sz="2000" spc="-1" dirty="0">
              <a:latin typeface="Times New Roman" panose="02020603050405020304" pitchFamily="18" charset="0"/>
              <a:ea typeface="MS PGothic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Department of </a:t>
            </a: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Computer Science and Engineering, </a:t>
            </a:r>
          </a:p>
          <a:p>
            <a:pPr algn="ctr">
              <a:lnSpc>
                <a:spcPct val="100000"/>
              </a:lnSpc>
              <a:spcBef>
                <a:spcPts val="400"/>
              </a:spcBef>
            </a:pPr>
            <a:r>
              <a:rPr lang="en-US" sz="2400" b="0" strike="noStrike" spc="-1" dirty="0">
                <a:latin typeface="Times New Roman" panose="02020603050405020304" pitchFamily="18" charset="0"/>
                <a:ea typeface="MS PGothic"/>
                <a:cs typeface="Times New Roman" panose="02020603050405020304" pitchFamily="18" charset="0"/>
              </a:rPr>
              <a:t>Chitkara University, Punjab</a:t>
            </a:r>
          </a:p>
          <a:p>
            <a:pPr algn="ctr">
              <a:lnSpc>
                <a:spcPct val="150000"/>
              </a:lnSpc>
              <a:spcBef>
                <a:spcPts val="400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  <a:p>
            <a:pPr>
              <a:lnSpc>
                <a:spcPct val="100000"/>
              </a:lnSpc>
              <a:spcBef>
                <a:spcPts val="641"/>
              </a:spcBef>
            </a:pPr>
            <a:endParaRPr lang="en-US" sz="2000" b="0" strike="noStrike" spc="-1" dirty="0">
              <a:solidFill>
                <a:srgbClr val="000000"/>
              </a:solidFill>
              <a:latin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to Digital Forensics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/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Digital forensics is a critical branch of cybersecurity focused on investigating cyber incidents.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It involves identifying, preserving, analyzing, and presenting digital evidence.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Increasing cyber threats have made forensic investigations essential for organizations.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Digital evidence supports both cybersecurity operations and legal proceedings.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5D41698-88EF-FD30-4F73-EC239DBB6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5FAC2823-8CDF-BCE2-BDA5-8A13F6BEF671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Background of the Study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36673D9B-487B-02FE-5FF8-178664132B50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85EE0FC2-2074-4C69-61EC-7244A2FE30EF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Rapid digital transformation has increased dependence on interconnected systems.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Cyberattacks such as phishing, malware, ransomware, and data breaches are growing rapidly.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Organizations require effective mechanisms to investigate and prevent cybercrime.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Digital forensic frameworks provide structured approaches for incident investigation.</a:t>
            </a:r>
          </a:p>
        </p:txBody>
      </p:sp>
    </p:spTree>
    <p:extLst>
      <p:ext uri="{BB962C8B-B14F-4D97-AF65-F5344CB8AC3E}">
        <p14:creationId xmlns:p14="http://schemas.microsoft.com/office/powerpoint/2010/main" val="5749484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81F3ED-025D-5DB6-85B3-5B8DC0371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49EB7CE8-6295-2C25-FD24-7931204F8720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255CB3D-C713-C3C3-3E47-899954051ACE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A275241E-803C-1C09-FF4A-51567F51342E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Investigators face massive volumes of digital evidence and system logs.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Encryption and anti-forensic techniques complicate investigations.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Manual forensic analysis consumes significant time and resources.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Automated and scalable solutions are necessary for modern investigations.</a:t>
            </a:r>
          </a:p>
        </p:txBody>
      </p:sp>
    </p:spTree>
    <p:extLst>
      <p:ext uri="{BB962C8B-B14F-4D97-AF65-F5344CB8AC3E}">
        <p14:creationId xmlns:p14="http://schemas.microsoft.com/office/powerpoint/2010/main" val="2812973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9DA62B-13B1-280C-1439-30C953F70DF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1E530FC0-04B6-0AC8-5913-DAA15ED2B17D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-US" sz="3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Research Objectives</a:t>
            </a: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73DCF5E0-91D1-C897-C585-98E783BBE8A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C14DC119-1B6A-2650-E40F-71FCFB30AC26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Aft>
                <a:spcPts val="1200"/>
              </a:spcAft>
              <a:defRPr sz="200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modern digital forensic investigation techniques.</a:t>
            </a:r>
          </a:p>
          <a:p>
            <a:pPr>
              <a:spcAft>
                <a:spcPts val="1200"/>
              </a:spcAft>
              <a:defRPr sz="200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implement network and disk forensic analysis in a controlled environment.</a:t>
            </a:r>
          </a:p>
          <a:p>
            <a:pPr>
              <a:spcAft>
                <a:spcPts val="1200"/>
              </a:spcAft>
              <a:defRPr sz="200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evaluate automation using Python and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Scapy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>
              <a:spcAft>
                <a:spcPts val="1200"/>
              </a:spcAft>
              <a:defRPr sz="200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To improve evidence analysis efficiency while maintaining data integrity.</a:t>
            </a:r>
            <a:endParaRPr lang="en-US" sz="25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2006225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90819C-197D-9380-990A-1AAFCC20B3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0EBE9C73-E608-6A6F-0B73-6A97C3A67C54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Experimental Environment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ABAA8490-2B0F-BB18-E008-0F0A64DE897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6E0602E2-309C-429D-46B1-884BADF1EA46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VMware Workstation used for creating an isolated virtual laboratory.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Kali Linux configured as the attacking and forensic analysis system.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Windows machine configured as the target environment.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Controlled setup ensured safe attack simulation and evidence collection.</a:t>
            </a:r>
          </a:p>
        </p:txBody>
      </p:sp>
    </p:spTree>
    <p:extLst>
      <p:ext uri="{BB962C8B-B14F-4D97-AF65-F5344CB8AC3E}">
        <p14:creationId xmlns:p14="http://schemas.microsoft.com/office/powerpoint/2010/main" val="23810632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40684C-B090-90B0-588D-26F58C8FEE9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8FBB066-F701-0DB8-3195-A9194966CF11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Forensics Investigation Process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5A11CEB-4B1F-545D-145B-808BEF1B95F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AEBCF4EB-D6C4-7CF5-1CA4-38712AC3C4AF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Identification and collection of digital evidence from multiple sources.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Preservation of evidence using cryptographic hashing techniques.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Examination and analysis of captured data using forensic tools.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Reporting and documentation of findings for investigation review.</a:t>
            </a:r>
          </a:p>
        </p:txBody>
      </p:sp>
    </p:spTree>
    <p:extLst>
      <p:ext uri="{BB962C8B-B14F-4D97-AF65-F5344CB8AC3E}">
        <p14:creationId xmlns:p14="http://schemas.microsoft.com/office/powerpoint/2010/main" val="181888457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723ABC9-6FD0-E8EA-1CD7-0140CED178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D962879D-2DAC-0B1C-E1B5-B2D95B38EB35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and Technologies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78903570-31DD-38D1-BB29-CA95FD45C2D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3B40FA35-27F2-2ECA-E26B-9480640F11D7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Aft>
                <a:spcPts val="1200"/>
              </a:spcAft>
              <a:defRPr sz="200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Wireshark – Network packet capture and traffic monitoring.</a:t>
            </a:r>
          </a:p>
          <a:p>
            <a:pPr>
              <a:spcAft>
                <a:spcPts val="1200"/>
              </a:spcAft>
              <a:defRPr sz="200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Autopsy – Disk forensics and artifact extraction platform.</a:t>
            </a:r>
          </a:p>
          <a:p>
            <a:pPr>
              <a:spcAft>
                <a:spcPts val="1200"/>
              </a:spcAft>
              <a:defRPr sz="200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Python &amp;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Scapy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– Automation and packet analysis scripting.</a:t>
            </a:r>
          </a:p>
          <a:p>
            <a:pPr>
              <a:spcAft>
                <a:spcPts val="1200"/>
              </a:spcAft>
              <a:defRPr sz="200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VMware Workstation – Secure virtualized testing environment.</a:t>
            </a:r>
          </a:p>
        </p:txBody>
      </p:sp>
    </p:spTree>
    <p:extLst>
      <p:ext uri="{BB962C8B-B14F-4D97-AF65-F5344CB8AC3E}">
        <p14:creationId xmlns:p14="http://schemas.microsoft.com/office/powerpoint/2010/main" val="260458370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11D9E6-458B-8456-2A4E-3FF618BD0D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C96173D-5DA6-6CB4-6AC5-B773B38E18A6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Forensics Implementation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97BFD209-DDC0-4FE5-7DBD-86982C852DC9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9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51BD4CA3-88F0-1425-C4BD-20BF18B7F8DF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Aft>
                <a:spcPts val="1200"/>
              </a:spcAft>
              <a:defRPr sz="200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Nmap SYN scan executed to simulate reconnaissance attacks.</a:t>
            </a:r>
          </a:p>
          <a:p>
            <a:pPr>
              <a:spcAft>
                <a:spcPts val="1200"/>
              </a:spcAft>
              <a:defRPr sz="200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Wireshark captured suspicious TCP SYN packet traffic.</a:t>
            </a:r>
          </a:p>
          <a:p>
            <a:pPr>
              <a:spcAft>
                <a:spcPts val="1200"/>
              </a:spcAft>
              <a:defRPr sz="200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Traffic filtering used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tcp.flags.syn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== 1 for targeted analysis.</a:t>
            </a:r>
          </a:p>
          <a:p>
            <a:pPr>
              <a:spcAft>
                <a:spcPts val="1200"/>
              </a:spcAft>
              <a:defRPr sz="200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Packet </a:t>
            </a:r>
            <a:r>
              <a:rPr lang="en-IN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behavior</a:t>
            </a: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confirmed systematic port scanning activity.</a:t>
            </a:r>
          </a:p>
        </p:txBody>
      </p:sp>
    </p:spTree>
    <p:extLst>
      <p:ext uri="{BB962C8B-B14F-4D97-AF65-F5344CB8AC3E}">
        <p14:creationId xmlns:p14="http://schemas.microsoft.com/office/powerpoint/2010/main" val="1849700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EFD9FB-72E7-39A0-48C4-A416CC3B92C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8B0AA34B-019B-A18F-D0FD-BB228CA80CAF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Wireshark Packet Analysis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D6875176-0C4C-CFD1-DC5C-AAB032D0455E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10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B7F614C6-9265-FEB8-85A3-8F5D7F98B6F0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Captured packets were analyzed at the TCP protocol level.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SYN packets revealed connection initiation attempts.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Source and destination ports identified active reconnaissance behavior.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Packet inspection enabled accurate threat identification.</a:t>
            </a:r>
          </a:p>
        </p:txBody>
      </p:sp>
    </p:spTree>
    <p:extLst>
      <p:ext uri="{BB962C8B-B14F-4D97-AF65-F5344CB8AC3E}">
        <p14:creationId xmlns:p14="http://schemas.microsoft.com/office/powerpoint/2010/main" val="388773197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66C56EB-AB6F-F8A2-BC97-1CFD6CB49B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C810127-EDCC-99DA-40D4-BC80A3C741CE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Automation using Scapy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05EDA483-BEC1-322C-1F3C-9C84CA2DA5B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11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380C334A-D1C8-10AC-CE21-C5F7C2073783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Python scripts automated analysis of PCAP capture files.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</a:t>
            </a:r>
            <a:r>
              <a:rPr lang="en-US" sz="25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Scapy</a:t>
            </a: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library extracted SYN packets and destination ports.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Automated scripts summarized packet statistics efficiently.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Automation reduced investigation time compared to manual analysis.</a:t>
            </a:r>
          </a:p>
        </p:txBody>
      </p:sp>
    </p:spTree>
    <p:extLst>
      <p:ext uri="{BB962C8B-B14F-4D97-AF65-F5344CB8AC3E}">
        <p14:creationId xmlns:p14="http://schemas.microsoft.com/office/powerpoint/2010/main" val="337234358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5631B9-440C-ECDC-44C1-EFBBEF568F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496D31AD-224E-93AD-72F1-85D91B2545CF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Forensics using Autopsy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386A15B3-1C11-E82B-D7AC-759536D62EAB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12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759F8AB0-2BCE-FC31-0CB4-0B2BCDB29861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Disk images from the Windows VM were analyzed using Autopsy.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Deleted files and hidden artifacts were successfully recovered.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File metadata and timestamps supported evidence reconstruction.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Organized evidence views improved forensic examination.</a:t>
            </a:r>
          </a:p>
        </p:txBody>
      </p:sp>
    </p:spTree>
    <p:extLst>
      <p:ext uri="{BB962C8B-B14F-4D97-AF65-F5344CB8AC3E}">
        <p14:creationId xmlns:p14="http://schemas.microsoft.com/office/powerpoint/2010/main" val="10237603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8CE48A-5A1C-FFBB-64BA-09710327CE6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BD112B05-6183-16CE-6C09-447A448C8B13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Artifact Extration and user Activity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B36F06C8-69D0-3228-053A-33027F041FB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13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8E962C5B-7D07-A6A9-D182-482224A791DC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Browser history, cookies, and downloads were extracted.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Shell Bags identified previously accessed folders and directories.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OS account details and login activity were reconstructed.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Suspicious encrypted files and keyword hits were identified.</a:t>
            </a:r>
          </a:p>
        </p:txBody>
      </p:sp>
    </p:spTree>
    <p:extLst>
      <p:ext uri="{BB962C8B-B14F-4D97-AF65-F5344CB8AC3E}">
        <p14:creationId xmlns:p14="http://schemas.microsoft.com/office/powerpoint/2010/main" val="340338441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B2CE6-05CF-2E51-7176-2FE121A29F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A1E35CE7-68FE-75DC-0D07-6979B62A287C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Timeline and Data Source Analysis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3853B673-9959-9239-FC9B-B35B5D14AB0E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14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F4CE4F15-1CF9-C708-4A5C-41508056BD3A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Timeline visualization established chronological activity patterns.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Data source summaries categorized files by type and usage.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Investigation history provided detailed evidence tracking.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Structured analysis improved incident reconstruction.</a:t>
            </a:r>
          </a:p>
        </p:txBody>
      </p:sp>
    </p:spTree>
    <p:extLst>
      <p:ext uri="{BB962C8B-B14F-4D97-AF65-F5344CB8AC3E}">
        <p14:creationId xmlns:p14="http://schemas.microsoft.com/office/powerpoint/2010/main" val="412342879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8AFDC29-8473-58F3-F77E-B9CEBADC58D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8BFA088E-7BC8-C3CE-181D-9B2749C93B97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Findings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D4EC74D4-6ED3-2D5B-D99F-92378671254E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15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B4BDF88E-E430-4C7D-29AE-92AF3A06F5EA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Aft>
                <a:spcPts val="1200"/>
              </a:spcAft>
              <a:defRPr sz="200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Automated scripts detected 1000 SYN packets targeting unique ports.</a:t>
            </a:r>
          </a:p>
          <a:p>
            <a:pPr>
              <a:spcAft>
                <a:spcPts val="1200"/>
              </a:spcAft>
              <a:defRPr sz="200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Wireshark confirmed suspicious reconnaissance traffic.</a:t>
            </a:r>
          </a:p>
          <a:p>
            <a:pPr>
              <a:spcAft>
                <a:spcPts val="1200"/>
              </a:spcAft>
              <a:defRPr sz="200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Autopsy extracted over 4000 web history entries.</a:t>
            </a:r>
          </a:p>
          <a:p>
            <a:pPr>
              <a:spcAft>
                <a:spcPts val="1200"/>
              </a:spcAft>
              <a:defRPr sz="2000"/>
            </a:pPr>
            <a:r>
              <a:rPr lang="en-IN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Structured forensic workflows improved analysis accuracy.</a:t>
            </a:r>
          </a:p>
        </p:txBody>
      </p:sp>
    </p:spTree>
    <p:extLst>
      <p:ext uri="{BB962C8B-B14F-4D97-AF65-F5344CB8AC3E}">
        <p14:creationId xmlns:p14="http://schemas.microsoft.com/office/powerpoint/2010/main" val="1815350854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F48A5A-E8D7-2A38-44AB-30F6362AC8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1F026FA-5C70-06F8-0468-0F77183710BF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Benefits of Automation in Forensics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02E8E3CD-099C-BF9E-3AA8-929A41FCCF0C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16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4FAF2632-20A8-6B96-CF08-596162B244C2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Faster processing of large-scale digital evidence.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Reduced dependency on manual investigation procedures.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Improved consistency and accuracy of forensic analysis.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Enhanced scalability for enterprise-level investigations.</a:t>
            </a:r>
          </a:p>
        </p:txBody>
      </p:sp>
    </p:spTree>
    <p:extLst>
      <p:ext uri="{BB962C8B-B14F-4D97-AF65-F5344CB8AC3E}">
        <p14:creationId xmlns:p14="http://schemas.microsoft.com/office/powerpoint/2010/main" val="198592403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B046C1-795C-520F-C24A-756A7456C5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1EE7A5BD-2D8B-2409-4766-E7D7F53964F3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DE42770B-A739-1B29-E4DD-2F9E3E1646BF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17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138EA252-9BE5-0ABC-E1CB-0D052651A5C4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Digital forensics plays a major role in cybersecurity defense mechanisms.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Integration of Autopsy, Wireshark, and Python improved investigation efficiency.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Automated workflows enhanced scalability and reduced analysis delays.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Structured forensic frameworks provide reliable and legally admissible evidence.</a:t>
            </a:r>
          </a:p>
        </p:txBody>
      </p:sp>
    </p:spTree>
    <p:extLst>
      <p:ext uri="{BB962C8B-B14F-4D97-AF65-F5344CB8AC3E}">
        <p14:creationId xmlns:p14="http://schemas.microsoft.com/office/powerpoint/2010/main" val="17991521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F7C3F7E-D8D7-178A-E9F7-2A8B9EEF7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>
            <a:extLst>
              <a:ext uri="{FF2B5EF4-FFF2-40B4-BE49-F238E27FC236}">
                <a16:creationId xmlns:a16="http://schemas.microsoft.com/office/drawing/2014/main" id="{9E88173D-016D-7127-8DF8-DC2F1D39881B}"/>
              </a:ext>
            </a:extLst>
          </p:cNvPr>
          <p:cNvSpPr txBox="1"/>
          <p:nvPr/>
        </p:nvSpPr>
        <p:spPr>
          <a:xfrm>
            <a:off x="-152400" y="0"/>
            <a:ext cx="5626608" cy="909687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Future Scope </a:t>
            </a:r>
            <a:endParaRPr lang="en-US" sz="3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>
            <a:extLst>
              <a:ext uri="{FF2B5EF4-FFF2-40B4-BE49-F238E27FC236}">
                <a16:creationId xmlns:a16="http://schemas.microsoft.com/office/drawing/2014/main" id="{44E62406-63A0-E333-36E9-B0AC0B3E3118}"/>
              </a:ext>
            </a:extLst>
          </p:cNvPr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18</a:t>
            </a:fld>
            <a:endParaRPr lang="en-GB" sz="1200" b="0" strike="noStrike" spc="-1">
              <a:latin typeface="Times New Roman"/>
            </a:endParaRPr>
          </a:p>
        </p:txBody>
      </p:sp>
      <p:sp>
        <p:nvSpPr>
          <p:cNvPr id="5" name="TextShape 2">
            <a:extLst>
              <a:ext uri="{FF2B5EF4-FFF2-40B4-BE49-F238E27FC236}">
                <a16:creationId xmlns:a16="http://schemas.microsoft.com/office/drawing/2014/main" id="{B0B0523E-995B-DCD6-7FF8-010D4BC95B87}"/>
              </a:ext>
            </a:extLst>
          </p:cNvPr>
          <p:cNvSpPr txBox="1"/>
          <p:nvPr/>
        </p:nvSpPr>
        <p:spPr>
          <a:xfrm>
            <a:off x="164008" y="1109742"/>
            <a:ext cx="8838720" cy="4838571"/>
          </a:xfrm>
          <a:prstGeom prst="rect">
            <a:avLst/>
          </a:prstGeom>
          <a:noFill/>
          <a:ln w="9360">
            <a:noFill/>
          </a:ln>
        </p:spPr>
        <p:txBody>
          <a:bodyPr>
            <a:noAutofit/>
          </a:bodyPr>
          <a:lstStyle/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AI and Machine Learning can automate anomaly detection further.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Cloud and IoT forensics require specialized investigation frameworks.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Distributed forensic systems can handle large-scale enterprise data.</a:t>
            </a:r>
          </a:p>
          <a:p>
            <a:pPr>
              <a:spcAft>
                <a:spcPts val="1200"/>
              </a:spcAft>
              <a:defRPr sz="2000"/>
            </a:pPr>
            <a:r>
              <a:rPr lang="en-US" sz="25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• Real-time forensic intelligence can strengthen incident response systems.</a:t>
            </a:r>
          </a:p>
        </p:txBody>
      </p:sp>
    </p:spTree>
    <p:extLst>
      <p:ext uri="{BB962C8B-B14F-4D97-AF65-F5344CB8AC3E}">
        <p14:creationId xmlns:p14="http://schemas.microsoft.com/office/powerpoint/2010/main" val="311996123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TextShape 1"/>
          <p:cNvSpPr txBox="1"/>
          <p:nvPr/>
        </p:nvSpPr>
        <p:spPr>
          <a:xfrm>
            <a:off x="1297577" y="2821578"/>
            <a:ext cx="6705599" cy="1410788"/>
          </a:xfrm>
          <a:prstGeom prst="rect">
            <a:avLst/>
          </a:prstGeom>
          <a:noFill/>
          <a:ln w="9360">
            <a:noFill/>
          </a:ln>
        </p:spPr>
        <p:txBody>
          <a:bodyPr anchor="ctr">
            <a:noAutofit/>
          </a:bodyPr>
          <a:lstStyle/>
          <a:p>
            <a:pPr algn="ctr">
              <a:lnSpc>
                <a:spcPct val="100000"/>
              </a:lnSpc>
            </a:pPr>
            <a:r>
              <a:rPr lang="en" sz="5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US" sz="54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TextShape 3"/>
          <p:cNvSpPr txBox="1"/>
          <p:nvPr/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>
            <a:noFill/>
          </a:ln>
        </p:spPr>
        <p:txBody>
          <a:bodyPr anchor="ctr">
            <a:noAutofit/>
          </a:bodyPr>
          <a:lstStyle/>
          <a:p>
            <a:pPr algn="r">
              <a:lnSpc>
                <a:spcPct val="100000"/>
              </a:lnSpc>
            </a:pPr>
            <a:fld id="{4D4FEEEE-7AC5-48A9-86F4-13448BE87B58}" type="slidenum">
              <a:rPr lang="en-US" sz="1200" b="1" strike="noStrike" spc="-1">
                <a:solidFill>
                  <a:srgbClr val="000000"/>
                </a:solidFill>
                <a:latin typeface="Calibri"/>
                <a:ea typeface="MS PGothic"/>
              </a:rPr>
              <a:pPr algn="r">
                <a:lnSpc>
                  <a:spcPct val="100000"/>
                </a:lnSpc>
              </a:pPr>
              <a:t>19</a:t>
            </a:fld>
            <a:endParaRPr lang="en-GB" sz="1200" b="0" strike="noStrike" spc="-1">
              <a:latin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283447980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96F1BF43DDE004485E7A868D137D60A" ma:contentTypeVersion="0" ma:contentTypeDescription="Create a new document." ma:contentTypeScope="" ma:versionID="47fff7f98a9c49c088ba096c14cf4458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c05e9f2c4932a6a674126b9dde7716ea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737ED6F0-5E4C-4CD0-9B68-9C53F925A6F7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A62A602-78C1-468C-BB25-57CD481DB741}">
  <ds:schemaRefs>
    <ds:schemaRef ds:uri="http://purl.org/dc/terms/"/>
    <ds:schemaRef ds:uri="http://www.w3.org/XML/1998/namespace"/>
    <ds:schemaRef ds:uri="http://purl.org/dc/dcmitype/"/>
    <ds:schemaRef ds:uri="http://schemas.microsoft.com/office/2006/documentManagement/types"/>
    <ds:schemaRef ds:uri="http://schemas.microsoft.com/office/2006/metadata/properties"/>
    <ds:schemaRef ds:uri="http://purl.org/dc/elements/1.1/"/>
    <ds:schemaRef ds:uri="http://schemas.microsoft.com/office/infopath/2007/PartnerControls"/>
    <ds:schemaRef ds:uri="http://schemas.openxmlformats.org/package/2006/metadata/core-properties"/>
  </ds:schemaRefs>
</ds:datastoreItem>
</file>

<file path=customXml/itemProps3.xml><?xml version="1.0" encoding="utf-8"?>
<ds:datastoreItem xmlns:ds="http://schemas.openxmlformats.org/officeDocument/2006/customXml" ds:itemID="{491DF113-39A2-46D5-BFDA-E63300A9ECAB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35469</TotalTime>
  <Words>870</Words>
  <Application>Microsoft Office PowerPoint</Application>
  <PresentationFormat>On-screen Show (4:3)</PresentationFormat>
  <Paragraphs>121</Paragraphs>
  <Slides>19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3" baseType="lpstr">
      <vt:lpstr>Arial</vt:lpstr>
      <vt:lpstr>Calibri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CCC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ABC</dc:creator>
  <cp:lastModifiedBy>vriti jaitley</cp:lastModifiedBy>
  <cp:revision>2299</cp:revision>
  <dcterms:created xsi:type="dcterms:W3CDTF">2010-04-09T07:36:15Z</dcterms:created>
  <dcterms:modified xsi:type="dcterms:W3CDTF">2026-05-10T19:57:46Z</dcterms:modified>
  <dc:language>en-GB</dc:languag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CCC</vt:lpwstr>
  </property>
  <property fmtid="{D5CDD505-2E9C-101B-9397-08002B2CF9AE}" pid="4" name="HiddenSlides">
    <vt:i4>0</vt:i4>
  </property>
  <property fmtid="{D5CDD505-2E9C-101B-9397-08002B2CF9AE}" pid="5" name="HyperlinksChanged">
    <vt:bool>false</vt:bool>
  </property>
  <property fmtid="{D5CDD505-2E9C-101B-9397-08002B2CF9AE}" pid="6" name="LinksUpToDate">
    <vt:bool>false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On-screen Show (4:3)</vt:lpwstr>
  </property>
  <property fmtid="{D5CDD505-2E9C-101B-9397-08002B2CF9AE}" pid="10" name="ScaleCrop">
    <vt:bool>false</vt:bool>
  </property>
  <property fmtid="{D5CDD505-2E9C-101B-9397-08002B2CF9AE}" pid="11" name="ShareDoc">
    <vt:bool>false</vt:bool>
  </property>
  <property fmtid="{D5CDD505-2E9C-101B-9397-08002B2CF9AE}" pid="12" name="Slides">
    <vt:i4>37</vt:i4>
  </property>
  <property fmtid="{D5CDD505-2E9C-101B-9397-08002B2CF9AE}" pid="13" name="ContentTypeId">
    <vt:lpwstr>0x010100096F1BF43DDE004485E7A868D137D60A</vt:lpwstr>
  </property>
</Properties>
</file>